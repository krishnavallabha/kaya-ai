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5600" b="1">
                <a:solidFill>
                  <a:srgbClr val="2DD4BF"/>
                </a:solidFill>
                <a:latin typeface="Arial"/>
              </a:defRPr>
            </a:pPr>
            <a:r>
              <a:t>FLOWSENSE AI</a:t>
            </a:r>
          </a:p>
          <a:p>
            <a:pPr>
              <a:spcAft>
                <a:spcPts val="1600"/>
              </a:spcAft>
              <a:defRPr sz="2400" b="1">
                <a:solidFill>
                  <a:srgbClr val="F8FAFC"/>
                </a:solidFill>
                <a:latin typeface="Arial"/>
              </a:defRPr>
            </a:pPr>
            <a:r>
              <a:t>Intelligent Construction Supply Chain Brain</a:t>
            </a:r>
          </a:p>
          <a:p>
            <a:pPr>
              <a:spcAft>
                <a:spcPts val="40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Automating multi-modal tracking, Bayesian delay forecasting, and critical path resequencing.</a:t>
            </a:r>
          </a:p>
          <a:p>
            <a:pPr>
              <a:defRPr sz="1200" b="1">
                <a:solidFill>
                  <a:srgbClr val="38BDF8"/>
                </a:solidFill>
                <a:latin typeface="Arial"/>
              </a:defRPr>
            </a:pPr>
            <a:r>
              <a:t>Kaya AI IIT India Hackathon 2026  |  Supply Chain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INDUSTRY PAIN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3000" b="1">
                <a:solidFill>
                  <a:srgbClr val="2DD4BF"/>
                </a:solidFill>
                <a:latin typeface="Arial"/>
              </a:defRPr>
            </a:pPr>
            <a:r>
              <a:t>The Problem: Construction Supply Chains Fail Silently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B7185"/>
                </a:solidFill>
                <a:latin typeface="Arial"/>
              </a:defRPr>
            </a:pPr>
            <a:r>
              <a:t>1. The Visibility Gap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Siloed operations cause critical data latency. McKinsey reports 40%+ of construction projects experience delays due to supply chain bottlenecks.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Materials are ordered, but status updates disappear in unstructured email PDFs, chats, and field paper logs.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Lack of automated verification of onsite delivery or physical material arrival.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73736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B7185"/>
                </a:solidFill>
                <a:latin typeface="Arial"/>
              </a:defRPr>
            </a:pPr>
            <a:r>
              <a:t>2. Unpredictable ETAs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Industry productivity growth has averaged just 1% annually over 20 years vs 2.8% globally, largely driven by logistics lag (McKinsey).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Promised vendor delivery dates are accepted blindly, ignoring dynamic shipping bottlenecks or port disruptions.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PMs lack early warning indicators for factory-floor fabrication delays.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73736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B7185"/>
                </a:solidFill>
                <a:latin typeface="Arial"/>
              </a:defRPr>
            </a:pPr>
            <a:r>
              <a:t>3. Cascading Schedule Impact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A delay in a single critical component stalls downstream operations. Bent Flyvbjerg's 'Iron Law of Megaprojects' shows 9 out of 10 projects exceed schedules &amp; budgets.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Cost overruns of 50%+ are common, driven by unmitigated risk propagation.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Schedules are static and disconnected from physical supply chain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INTRODUCING FLOWSENSE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3000" b="1">
                <a:solidFill>
                  <a:srgbClr val="2DD4BF"/>
                </a:solidFill>
                <a:latin typeface="Arial"/>
              </a:defRPr>
            </a:pPr>
            <a:r>
              <a:t>The Solution: Real-Time Intelligence &amp; Delay Mitigation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94A3B8"/>
                </a:solidFill>
                <a:latin typeface="Arial"/>
              </a:defRPr>
            </a:pPr>
            <a:r>
              <a:t>Traditional Supply Chain Tracking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Fragmented Waste: Up to 30% of field labor time is wasted waiting for materials or equipment (World Economic Forum).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Manual Overhead: PMs waste hours tracking orders via scattered spreadsheets, phone calls, and emails.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Isolated Schedules: Planning tools are decoupled from material status, making proactive forecast impossible.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Delayed Response: Action is taken only after a critical constraint has already delayed 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DD4BF"/>
                </a:solidFill>
                <a:latin typeface="Arial"/>
              </a:defRPr>
            </a:pPr>
            <a:r>
              <a:t>FlowSense: AI-Powered Control Center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Proactive &amp; Agentic: Continuous signal extraction via multi-modal agents directly from email &amp; photo feeds.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Predictive Analytics: Sequential Bayesian updates compute dynamic, realistic ETAs under logistics uncertainty.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Schedule-Linked: Maps material status onto the CPM network DAG, reducing schedule risk by up to 20% (Automation in Construction).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Instant Mitigation: One-click AI-drafted vendor actions and resequencing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3000" b="1">
                <a:solidFill>
                  <a:srgbClr val="2DD4BF"/>
                </a:solidFill>
                <a:latin typeface="Arial"/>
              </a:defRPr>
            </a:pPr>
            <a:r>
              <a:t>System Architecture: End-to-End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Layer 1: Ingestion Layer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Pipes multi-modal raw sources: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Email Agent extracts status and milestones from inbox text.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Vision Agent scans delivery photos, packing slips, and receipts.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Schedule Parser ingests Primavera XML schedules to build dependency maps.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73736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DD4BF"/>
                </a:solidFill>
                <a:latin typeface="Arial"/>
              </a:defRPr>
            </a:pPr>
            <a:r>
              <a:t>Layer 2: Intelligence Layer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Core mathematical brain: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Tracker resolves conflicting data (e.g. portal vs email) using recency weights.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Bayesian Forecaster projects probabilistic ETAs under uncertainty.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Cascade Engine propagates delay through NetworkX dependency DAG.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73736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Layer 3: Action Layer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PM command cockpit interface: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Live dashboard with donut KPIs, risk trends, and alerts.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Schedule network graph showing critical path highlight.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Action drafts for vendor escalation and fast scheduling adjustment.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LAYER 1: INGESTION &amp;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3000" b="1">
                <a:solidFill>
                  <a:srgbClr val="2DD4BF"/>
                </a:solidFill>
                <a:latin typeface="Arial"/>
              </a:defRPr>
            </a:pPr>
            <a:r>
              <a:t>Multi-Modal Ingest &amp; Status Consensus Tracking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Cognitive Data Ingest Agents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LangChain Email Agent: Scans emails for status flags (e.g., 'Fabrication delay', 'Ready to dispatch') and converts to structured JSON events.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VLM Vision Agent: Scans receipts, packing lists, and site delivery photos. Extracts PO numbers, items, quantities, and quality checks.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Primavera Ingest: Ingests XML schedules directly, matching activities to material requirements.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DD4BF"/>
                </a:solidFill>
                <a:latin typeface="Arial"/>
              </a:defRPr>
            </a:pPr>
            <a:r>
              <a:t>Dynamic Consensus Tracking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Conflict Resolution: Resolves mismatch (e.g. vendor portal says 'fabrication' but email says 'shipped').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Recency &amp; Reliability Weights: Calculates confidence using age of signal and trustworthiness of source.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Auditable Traceability: Maintains a ledger of evidence, logging exactly why a state changed.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LAYER 2: INTELLIGENCE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3000" b="1">
                <a:solidFill>
                  <a:srgbClr val="2DD4BF"/>
                </a:solidFill>
                <a:latin typeface="Arial"/>
              </a:defRPr>
            </a:pPr>
            <a:r>
              <a:t>Bayesian Delay Forecasting &amp; NetworkX Graph Cascade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DD4BF"/>
                </a:solidFill>
                <a:latin typeface="Arial"/>
              </a:defRPr>
            </a:pPr>
            <a:r>
              <a:t>Bayesian Delay Forecaster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Probabilistic ETA: Computes delivery dates as a probability distribution, not a single point.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Sequential Bayes Updates: Prior lead time curves are updated instantly as new lifecycle checkpoints are reached.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Confidence Metric: Computes P50 / P90 arrival dates and overall delay probability to flag warning states early.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Schedule Cascade Engine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Directed Acyclic Graphs (DAG): Rebuilds the static Primavera project schedule in memory via NetworkX.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Delay Propagation: Automatically calculates the impact of delayed material delivery across the dependency graph (BFS/DFS).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Critical Path Alerts: Instantly flags delays that consume schedule buffer and delay final project completion.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LAYER 3: ACTION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3000" b="1">
                <a:solidFill>
                  <a:srgbClr val="2DD4BF"/>
                </a:solidFill>
                <a:latin typeface="Arial"/>
              </a:defRPr>
            </a:pPr>
            <a:r>
              <a:t>The Action Layer: PM Cockpit &amp; One-Click Resolves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Command Center Dashboard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Dashboard Cockpit: Tracks key metrics, total POs, delay distributions, at-risk orders, and live system warnings.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Schedule Graph Viz: Dynamic, interactive layout built with React Flow + Dagre showing task nodes and highlights.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Material Lifecycle Stepper: Details each order phase from fabrication through site delivery.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DD4BF"/>
                </a:solidFill>
                <a:latin typeface="Arial"/>
              </a:defRPr>
            </a:pPr>
            <a:r>
              <a:t>One-Click AI-Drafted Actions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Email Drafting Agent: Creates structured, professional email escalations tailored to specific vendor delays.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Resequencing Recommendations: Ranks schedule correction logic to bypass delayed nodes and save days.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Human-in-the-Loop: Empowers PMs to review and execute suggested recovery tasks in one click.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TECHNOLOGY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3000" b="1">
                <a:solidFill>
                  <a:srgbClr val="2DD4BF"/>
                </a:solidFill>
                <a:latin typeface="Arial"/>
              </a:defRPr>
            </a:pPr>
            <a:r>
              <a:t>Under the Hood: Modern 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Frontend (Action Layer)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React 18 &amp; Vite: High performance modular UI rendering.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React Flow + Dagre: Automated graph auto-layouts for schedules.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Recharts: Smooth analytics for lifecycle stages &amp; status shares.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Tailwind CSS: Custom dark / light theme configuration.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73736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DD4BF"/>
                </a:solidFill>
                <a:latin typeface="Arial"/>
              </a:defRPr>
            </a:pPr>
            <a:r>
              <a:t>Backend &amp; Database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FastAPI (Python): Asynchronous request handling and APIs.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SQLite &amp; SQLAlchemy: Structured schemas for orders, schedules, activities, and signal logs.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Pydantic: Bulletproof type enforcement and JSON validation.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73736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AI / ML Modeling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NetworkX: Schedule DAG representation and traversal algorithms.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NumPy &amp; SciPy: Custom mathematical Bayesian updating logic.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OpenAI / Groq: LLMs for email processing, photo VLM, and action drafts.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3000" b="1">
                <a:solidFill>
                  <a:srgbClr val="2DD4BF"/>
                </a:solidFill>
                <a:latin typeface="Arial"/>
              </a:defRPr>
            </a:pPr>
            <a:r>
              <a:t>Why FlowSense Wins: Real Value &amp; Engineering Depth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DD4BF"/>
                </a:solidFill>
                <a:latin typeface="Arial"/>
              </a:defRPr>
            </a:pPr>
            <a:r>
              <a:t>Engineering Depth over Wrapper Apps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Synthesizes multi-disciplinary models: VLM + LLMs + Bayesian statistics + Graph theory.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Dual Core: Handles both ingest agents (unstructured data) and scheduled constraints (structured engineering data).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Resilient Offline Mode: Falls back to rule-based parser and local mock data if API limits or credentials fail.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Real Industry Pain &amp; Value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Targets the largest cost driver: Material shortages and supply chain fragmentation are the primary triggers of megaproject overruns (Flyvbjerg).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Grounded in McKinsey Best Practices: Integrates long-lead material tracking and digital transparency onto a single source of truth.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Direct ROI: Automates manual documentation, saving PMs 8+ hours a week while reducing wait-time wastes.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HACKATHON PITCH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3000" b="1">
                <a:solidFill>
                  <a:srgbClr val="2DD4BF"/>
                </a:solidFill>
                <a:latin typeface="Arial"/>
              </a:defRPr>
            </a:pPr>
            <a:r>
              <a:t>Live Demo Walkthrough: 2-Minute Script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0:00 - 1:00  |  Visualizing Chaos &amp; Ingest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0:00 - 0:20 (The Pain): Load the dashboard. Show the list of material orders and explain that several are at-risk, triggering critical path warnings.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0:20 - 0:40 (Multi-Modal Ingest): Upload a delivery receipt photo. Show the Vision Agent parsing it in real-time.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0:40 - 1:00 (Consensus): Explain how status updates to 'Delivered' automatically, recalculating confidence and audit history.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DD4BF"/>
                </a:solidFill>
                <a:latin typeface="Arial"/>
              </a:defRPr>
            </a:pPr>
            <a:r>
              <a:t>1:00 - 2:00  |  Intelligence &amp; One-Click Resolve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1:00 - 1:30 (Cascade Graph): View the interactive schedule graph. Show how a forecasted delayed steel beam propagates delay through downstream concrete pours.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1:30 - 1:50 (Mitigation): Click 'Draft Action' for the late PO. Show the AI-generated escalation mail detailing exact PO items.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1:50 - 2:00 (Close): Execute the simulated send. Pitch how FlowSense puts PMs back in control.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3000" b="1">
                <a:solidFill>
                  <a:srgbClr val="2DD4BF"/>
                </a:solidFill>
                <a:latin typeface="Arial"/>
              </a:defRPr>
            </a:pPr>
            <a:r>
              <a:t>FlowSense: The Future of Supply Chain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1645920"/>
            <a:ext cx="889985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1737360"/>
            <a:ext cx="871697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DD4BF"/>
                </a:solidFill>
                <a:latin typeface="Arial"/>
              </a:defRPr>
            </a:pPr>
            <a:r>
              <a:t>Key Takeaways &amp; Future Outlook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Resolves Industry-Wide Fragmentation: Bridges raw multi-modal logistics with schedule CPM networks, solving the core challenge highlighted by McKinsey and WEF.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Empowers Proactive Resiliency: Replaces slow, manual spreadsheets with Bayesian forecasting and graph-based cascade alerts.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Modern Roadmap: Expanding into automated RFQ/subcontractor updates, and IoT/GPS container tracking to achieve full global supply chain transparency.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FlowSense — The supply chain brain construction has been waiting for.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